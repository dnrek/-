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image" Target="../media/image-5-2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2.png"/><Relationship Id="rId5" Type="http://schemas.openxmlformats.org/officeDocument/2006/relationships/image" Target="../media/image-13-5.png"/><Relationship Id="rId6" Type="http://schemas.openxmlformats.org/officeDocument/2006/relationships/image" Target="../media/image-13-2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icyber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0173" y="1048817"/>
            <a:ext cx="737006" cy="737006"/>
          </a:xfrm>
          <a:prstGeom prst="rect">
            <a:avLst/>
          </a:prstGeom>
        </p:spPr>
      </p:pic>
      <p:pic>
        <p:nvPicPr>
          <p:cNvPr id="3" name="Image 1" descr="/home/claude/aicyber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73" y="1048817"/>
            <a:ext cx="737006" cy="73700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33172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في تعزيز الأمن السيبراني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914400" y="32461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in Enhancing Cybersecurity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4937760" y="3977640"/>
            <a:ext cx="2313432" cy="0"/>
          </a:xfrm>
          <a:prstGeom prst="line">
            <a:avLst/>
          </a:prstGeom>
          <a:noFill/>
          <a:ln w="12700">
            <a:solidFill>
              <a:srgbClr val="7FA3E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286000" y="4297680"/>
            <a:ext cx="7616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 الطالبة: هيفاء زبن الحربي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التخصص: الأمن السيبراني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المقرر: __________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الدكتورة: __________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الجامعة: __________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العام الدراسي: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المقدمة</a:t>
            </a:r>
            <a:endParaRPr lang="en-US" sz="3200" dirty="0"/>
          </a:p>
        </p:txBody>
      </p:sp>
      <p:pic>
        <p:nvPicPr>
          <p:cNvPr id="3" name="Image 0" descr="/home/claude/aicyber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2662" y="1242670"/>
            <a:ext cx="623621" cy="6236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10312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 التطور الرقمي المتسارع، أصبحت الهجمات الإلكترونية أكثر تعقيدًا، مما جعل حماية البيانات والأنظمة تحديًا مستمرًا.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22960" y="3429000"/>
            <a:ext cx="10543032" cy="1600200"/>
          </a:xfrm>
          <a:prstGeom prst="rect">
            <a:avLst>
              <a:gd name="adj" fmla="val 6857"/>
            </a:avLst>
          </a:prstGeom>
          <a:solidFill>
            <a:srgbClr val="141A47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3611880"/>
            <a:ext cx="9994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يساهم الذكاء الاصطناعي في تطوير الأمن السيبراني من خلال تحليل كميات كبيرة من البيانات، واكتشاف الأنشطة غير الطبيعية، والمساعدة في الاستجابة للتهديدات بسرعة أكبر.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الذكاء الاصطناعي؟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تقنية تمكّن الأنظمة الحاسوبية من أداء مهام تتطلب عادةً قدرًا من الذكاء البشري: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43032" cy="676656"/>
          </a:xfrm>
          <a:prstGeom prst="rect">
            <a:avLst>
              <a:gd name="adj" fmla="val 13514"/>
            </a:avLst>
          </a:prstGeom>
          <a:solidFill>
            <a:srgbClr val="141A47"/>
          </a:solidFill>
          <a:ln/>
        </p:spPr>
      </p:sp>
      <p:pic>
        <p:nvPicPr>
          <p:cNvPr id="5" name="Image 0" descr="/home/claude/aicyber/icons/refre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3044" y="2174260"/>
            <a:ext cx="351495" cy="3514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011680"/>
            <a:ext cx="9445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التعلم من البيانات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2852928"/>
            <a:ext cx="10543032" cy="676656"/>
          </a:xfrm>
          <a:prstGeom prst="rect">
            <a:avLst>
              <a:gd name="adj" fmla="val 13514"/>
            </a:avLst>
          </a:prstGeom>
          <a:solidFill>
            <a:srgbClr val="141A47"/>
          </a:solidFill>
          <a:ln/>
        </p:spPr>
      </p:sp>
      <p:pic>
        <p:nvPicPr>
          <p:cNvPr id="8" name="Image 1" descr="/home/claude/aicyber/icons/bar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3044" y="3015508"/>
            <a:ext cx="351495" cy="3514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852928"/>
            <a:ext cx="9445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المعلومات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822960" y="3694176"/>
            <a:ext cx="10543032" cy="676656"/>
          </a:xfrm>
          <a:prstGeom prst="rect">
            <a:avLst>
              <a:gd name="adj" fmla="val 13514"/>
            </a:avLst>
          </a:prstGeom>
          <a:solidFill>
            <a:srgbClr val="141A47"/>
          </a:solidFill>
          <a:ln/>
        </p:spPr>
      </p:sp>
      <p:pic>
        <p:nvPicPr>
          <p:cNvPr id="11" name="Image 2" descr="/home/claude/aicyber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3044" y="3856756"/>
            <a:ext cx="351495" cy="3514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694176"/>
            <a:ext cx="9445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اكتشاف الأنماط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822960" y="4535424"/>
            <a:ext cx="10543032" cy="676656"/>
          </a:xfrm>
          <a:prstGeom prst="rect">
            <a:avLst>
              <a:gd name="adj" fmla="val 13514"/>
            </a:avLst>
          </a:prstGeom>
          <a:solidFill>
            <a:srgbClr val="141A47"/>
          </a:solidFill>
          <a:ln/>
        </p:spPr>
      </p:sp>
      <p:pic>
        <p:nvPicPr>
          <p:cNvPr id="14" name="Image 3" descr="/home/claude/aicyber/icons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3044" y="4698004"/>
            <a:ext cx="351495" cy="35149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4535424"/>
            <a:ext cx="9445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التنبؤ بالنتائج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822960" y="5376672"/>
            <a:ext cx="10543032" cy="676656"/>
          </a:xfrm>
          <a:prstGeom prst="rect">
            <a:avLst>
              <a:gd name="adj" fmla="val 13514"/>
            </a:avLst>
          </a:prstGeom>
          <a:solidFill>
            <a:srgbClr val="141A47"/>
          </a:solidFill>
          <a:ln/>
        </p:spPr>
      </p:sp>
      <p:pic>
        <p:nvPicPr>
          <p:cNvPr id="17" name="Image 4" descr="/home/claude/aicyber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3044" y="5539252"/>
            <a:ext cx="351495" cy="35149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5376672"/>
            <a:ext cx="9445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المساعدة في اتخاذ القرارات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الأمن السيبراني؟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مجموعة من التقنيات والإجراءات التي تهدف إلى حماية: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1228" y="2103120"/>
            <a:ext cx="2514600" cy="2148840"/>
          </a:xfrm>
          <a:prstGeom prst="rect">
            <a:avLst>
              <a:gd name="adj" fmla="val 5106"/>
            </a:avLst>
          </a:prstGeom>
          <a:solidFill>
            <a:srgbClr val="141A47"/>
          </a:solidFill>
          <a:ln/>
        </p:spPr>
      </p:sp>
      <p:pic>
        <p:nvPicPr>
          <p:cNvPr id="5" name="Image 0" descr="/home/claude/aicyber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9237" y="2611069"/>
            <a:ext cx="538582" cy="5385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" y="3474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الأنظمة والأجهزة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451860" y="2103120"/>
            <a:ext cx="2514600" cy="2148840"/>
          </a:xfrm>
          <a:prstGeom prst="rect">
            <a:avLst>
              <a:gd name="adj" fmla="val 5106"/>
            </a:avLst>
          </a:prstGeom>
          <a:solidFill>
            <a:srgbClr val="141A47"/>
          </a:solidFill>
          <a:ln/>
        </p:spPr>
      </p:sp>
      <p:pic>
        <p:nvPicPr>
          <p:cNvPr id="8" name="Image 1" descr="/home/claude/aicyber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869" y="2611069"/>
            <a:ext cx="538582" cy="5385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43300" y="3474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الشبكات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22492" y="2103120"/>
            <a:ext cx="2514600" cy="2148840"/>
          </a:xfrm>
          <a:prstGeom prst="rect">
            <a:avLst>
              <a:gd name="adj" fmla="val 5106"/>
            </a:avLst>
          </a:prstGeom>
          <a:solidFill>
            <a:srgbClr val="141A47"/>
          </a:solidFill>
          <a:ln/>
        </p:spPr>
      </p:sp>
      <p:pic>
        <p:nvPicPr>
          <p:cNvPr id="11" name="Image 2" descr="/home/claude/aicyber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501" y="2611069"/>
            <a:ext cx="538582" cy="5385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13932" y="3474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والمعلومات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993124" y="2103120"/>
            <a:ext cx="2514600" cy="2148840"/>
          </a:xfrm>
          <a:prstGeom prst="rect">
            <a:avLst>
              <a:gd name="adj" fmla="val 5106"/>
            </a:avLst>
          </a:prstGeom>
          <a:solidFill>
            <a:srgbClr val="141A47"/>
          </a:solidFill>
          <a:ln/>
        </p:spPr>
      </p:sp>
      <p:pic>
        <p:nvPicPr>
          <p:cNvPr id="14" name="Image 3" descr="/home/claude/aicyber/icons/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1133" y="2611069"/>
            <a:ext cx="538582" cy="53858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84564" y="3474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حسابات المستخدمين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822960" y="461772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الوصول غير المصرح به والهجمات والتهديدات الإلكترونية.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العلاقة بين الذكاء الاصطناعي والأمن السيبراني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يمكن للذكاء الاصطناعي تحليل كميات كبيرة من البيانات باستمرار، واكتشاف الأنماط غير الطبيعية التي قد تشير إلى وجود تهديد إلكتروني.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طريقة العمل بشكل مبسط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546336" y="2971800"/>
            <a:ext cx="1874520" cy="1920240"/>
          </a:xfrm>
          <a:prstGeom prst="rect">
            <a:avLst>
              <a:gd name="adj" fmla="val 5854"/>
            </a:avLst>
          </a:prstGeom>
          <a:solidFill>
            <a:srgbClr val="141A47"/>
          </a:solidFill>
          <a:ln/>
        </p:spPr>
      </p:sp>
      <p:pic>
        <p:nvPicPr>
          <p:cNvPr id="6" name="Image 0" descr="/home/claude/aicyber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2652" y="3325216"/>
            <a:ext cx="481889" cy="4818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92056" y="4069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</a:t>
            </a:r>
            <a:endParaRPr lang="en-US" sz="1250" dirty="0"/>
          </a:p>
        </p:txBody>
      </p:sp>
      <p:pic>
        <p:nvPicPr>
          <p:cNvPr id="8" name="Image 1" descr="/home/claude/aicyber/icons/arrow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0" y="3803904"/>
            <a:ext cx="256032" cy="2560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51776" y="2971800"/>
            <a:ext cx="1874520" cy="1920240"/>
          </a:xfrm>
          <a:prstGeom prst="rect">
            <a:avLst>
              <a:gd name="adj" fmla="val 5854"/>
            </a:avLst>
          </a:prstGeom>
          <a:solidFill>
            <a:srgbClr val="141A47"/>
          </a:solidFill>
          <a:ln/>
        </p:spPr>
      </p:sp>
      <p:pic>
        <p:nvPicPr>
          <p:cNvPr id="10" name="Image 2" descr="/home/claude/aicyber/icons/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092" y="3325216"/>
            <a:ext cx="481889" cy="48188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97496" y="4069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بالذكاء الاصطناعي</a:t>
            </a:r>
            <a:endParaRPr lang="en-US" sz="1250" dirty="0"/>
          </a:p>
        </p:txBody>
      </p:sp>
      <p:pic>
        <p:nvPicPr>
          <p:cNvPr id="12" name="Image 3" descr="/home/claude/aicyber/icons/arrowLe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3803904"/>
            <a:ext cx="256032" cy="25603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157216" y="2971800"/>
            <a:ext cx="1874520" cy="1920240"/>
          </a:xfrm>
          <a:prstGeom prst="rect">
            <a:avLst>
              <a:gd name="adj" fmla="val 5854"/>
            </a:avLst>
          </a:prstGeom>
          <a:solidFill>
            <a:srgbClr val="141A47"/>
          </a:solidFill>
          <a:ln/>
        </p:spPr>
      </p:sp>
      <p:pic>
        <p:nvPicPr>
          <p:cNvPr id="14" name="Image 4" descr="/home/claude/aicyber/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532" y="3325216"/>
            <a:ext cx="481889" cy="48188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02936" y="4069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اكتشاف نشاط مشبوه</a:t>
            </a:r>
            <a:endParaRPr lang="en-US" sz="1250" dirty="0"/>
          </a:p>
        </p:txBody>
      </p:sp>
      <p:pic>
        <p:nvPicPr>
          <p:cNvPr id="16" name="Image 5" descr="/home/claude/aicyber/icons/arrowLef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180" y="3803904"/>
            <a:ext cx="256032" cy="256032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2962656" y="2971800"/>
            <a:ext cx="1874520" cy="1920240"/>
          </a:xfrm>
          <a:prstGeom prst="rect">
            <a:avLst>
              <a:gd name="adj" fmla="val 5854"/>
            </a:avLst>
          </a:prstGeom>
          <a:solidFill>
            <a:srgbClr val="141A47"/>
          </a:solidFill>
          <a:ln/>
        </p:spPr>
      </p:sp>
      <p:pic>
        <p:nvPicPr>
          <p:cNvPr id="18" name="Image 6" descr="/home/claude/aicyber/icons/bel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8972" y="3325216"/>
            <a:ext cx="481889" cy="481889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008376" y="4069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أمني</a:t>
            </a:r>
            <a:endParaRPr lang="en-US" sz="1250" dirty="0"/>
          </a:p>
        </p:txBody>
      </p:sp>
      <p:pic>
        <p:nvPicPr>
          <p:cNvPr id="20" name="Image 7" descr="/home/claude/aicyber/icons/arrowLef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4620" y="3803904"/>
            <a:ext cx="256032" cy="256032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768096" y="2971800"/>
            <a:ext cx="1874520" cy="1920240"/>
          </a:xfrm>
          <a:prstGeom prst="rect">
            <a:avLst>
              <a:gd name="adj" fmla="val 5854"/>
            </a:avLst>
          </a:prstGeom>
          <a:solidFill>
            <a:srgbClr val="141A47"/>
          </a:solidFill>
          <a:ln/>
        </p:spPr>
      </p:sp>
      <p:pic>
        <p:nvPicPr>
          <p:cNvPr id="22" name="Image 8" descr="/home/claude/aicyber/icons/user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4412" y="3325216"/>
            <a:ext cx="481889" cy="481889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813816" y="4069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استجابة من المختص</a:t>
            </a:r>
            <a:endParaRPr lang="en-US" sz="1250" dirty="0"/>
          </a:p>
        </p:txBody>
      </p:sp>
      <p:sp>
        <p:nvSpPr>
          <p:cNvPr id="24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استخدامات الذكاء الاصطناعي في الأمن السيبراني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12648" y="1417320"/>
            <a:ext cx="3520440" cy="1965960"/>
          </a:xfrm>
          <a:prstGeom prst="rect">
            <a:avLst>
              <a:gd name="adj" fmla="val 5581"/>
            </a:avLst>
          </a:prstGeom>
          <a:solidFill>
            <a:srgbClr val="141A47"/>
          </a:solidFill>
          <a:ln/>
        </p:spPr>
      </p:sp>
      <p:pic>
        <p:nvPicPr>
          <p:cNvPr id="4" name="Image 0" descr="/home/claude/aicyber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850" y="1707642"/>
            <a:ext cx="425196" cy="4251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15819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اكتشاف الهجمات الإلكترونية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49808" y="22860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النشاط الشبكي واكتشاف السلوك غير المعتاد.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34256" y="1417320"/>
            <a:ext cx="3520440" cy="1965960"/>
          </a:xfrm>
          <a:prstGeom prst="rect">
            <a:avLst>
              <a:gd name="adj" fmla="val 5581"/>
            </a:avLst>
          </a:prstGeom>
          <a:solidFill>
            <a:srgbClr val="141A47"/>
          </a:solidFill>
          <a:ln/>
        </p:spPr>
      </p:sp>
      <p:pic>
        <p:nvPicPr>
          <p:cNvPr id="8" name="Image 1" descr="/home/claude/aicyber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458" y="1707642"/>
            <a:ext cx="425196" cy="4251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71416" y="15819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اكتشاف البرمجيات الخبيثة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471416" y="22860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المساعدة في التعرف على الملفات والسلوكيات الضارة.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055864" y="1417320"/>
            <a:ext cx="3520440" cy="1965960"/>
          </a:xfrm>
          <a:prstGeom prst="rect">
            <a:avLst>
              <a:gd name="adj" fmla="val 5581"/>
            </a:avLst>
          </a:prstGeom>
          <a:solidFill>
            <a:srgbClr val="141A47"/>
          </a:solidFill>
          <a:ln/>
        </p:spPr>
      </p:sp>
      <p:pic>
        <p:nvPicPr>
          <p:cNvPr id="12" name="Image 2" descr="/home/claude/aicyber/icons/bar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066" y="1707642"/>
            <a:ext cx="425196" cy="4251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93024" y="15819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اكتشاف الاحتيال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193024" y="22860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العمليات والأنشطة للكشف عن الأنماط المشبوهة.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12648" y="3611880"/>
            <a:ext cx="3520440" cy="1965960"/>
          </a:xfrm>
          <a:prstGeom prst="rect">
            <a:avLst>
              <a:gd name="adj" fmla="val 5581"/>
            </a:avLst>
          </a:prstGeom>
          <a:solidFill>
            <a:srgbClr val="141A47"/>
          </a:solidFill>
          <a:ln/>
        </p:spPr>
      </p:sp>
      <p:pic>
        <p:nvPicPr>
          <p:cNvPr id="16" name="Image 3" descr="/home/claude/aicyber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0" y="3902202"/>
            <a:ext cx="425196" cy="4251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9808" y="37764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سلوك المستخدم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749808" y="44805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ملاحظة التغييرات غير المعتادة في استخدام الحسابات.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334256" y="3611880"/>
            <a:ext cx="3520440" cy="1965960"/>
          </a:xfrm>
          <a:prstGeom prst="rect">
            <a:avLst>
              <a:gd name="adj" fmla="val 5581"/>
            </a:avLst>
          </a:prstGeom>
          <a:solidFill>
            <a:srgbClr val="141A47"/>
          </a:solidFill>
          <a:ln/>
        </p:spPr>
      </p:sp>
      <p:pic>
        <p:nvPicPr>
          <p:cNvPr id="20" name="Image 4" descr="/home/claude/aicyber/icons/be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3458" y="3902202"/>
            <a:ext cx="425196" cy="4251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471416" y="37764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الاستجابة للتهديدات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4471416" y="44805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التنبيهات الأمنية وتسريع الاستجابة.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يساعد الذكاء الاصطناعي محلل الأمن السيبراني؟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يستطيع الذكاء الاصطناعي معالجة وتحليل كمية كبيرة من البيانات خلال وقت قصير، مما يساعد المحلل على التركيز على التهديدات الأكثر أهمية.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23076" y="2468880"/>
            <a:ext cx="4206240" cy="2377440"/>
          </a:xfrm>
          <a:prstGeom prst="rect">
            <a:avLst>
              <a:gd name="adj" fmla="val 4615"/>
            </a:avLst>
          </a:prstGeom>
          <a:solidFill>
            <a:srgbClr val="141A47"/>
          </a:solidFill>
          <a:ln/>
        </p:spPr>
      </p:sp>
      <p:pic>
        <p:nvPicPr>
          <p:cNvPr id="5" name="Image 0" descr="/home/claude/aicyber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252" y="2822296"/>
            <a:ext cx="481889" cy="4818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23076" y="3520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60236" y="3931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يقوم بالتحليل واكتشاف الأنماط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659636" y="2468880"/>
            <a:ext cx="4206240" cy="2377440"/>
          </a:xfrm>
          <a:prstGeom prst="rect">
            <a:avLst>
              <a:gd name="adj" fmla="val 4615"/>
            </a:avLst>
          </a:prstGeom>
          <a:solidFill>
            <a:srgbClr val="141A47"/>
          </a:solidFill>
          <a:ln/>
        </p:spPr>
      </p:sp>
      <p:pic>
        <p:nvPicPr>
          <p:cNvPr id="9" name="Image 1" descr="/home/claude/aicyber/icons/user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812" y="2822296"/>
            <a:ext cx="481889" cy="48188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59636" y="3520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المختص الأمني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796796" y="3931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يراجع النتائج ويتخذ القرار المناسب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عملي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43032" cy="1234440"/>
          </a:xfrm>
          <a:prstGeom prst="rect">
            <a:avLst>
              <a:gd name="adj" fmla="val 8889"/>
            </a:avLst>
          </a:prstGeom>
          <a:solidFill>
            <a:srgbClr val="141A47"/>
          </a:solidFill>
          <a:ln/>
        </p:spPr>
      </p:sp>
      <p:pic>
        <p:nvPicPr>
          <p:cNvPr id="4" name="Image 0" descr="/home/claude/aicyber/icons/help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0581" y="1762049"/>
            <a:ext cx="453542" cy="4535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463040"/>
            <a:ext cx="9262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الموقف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5840" y="1783080"/>
            <a:ext cx="9262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 يسجّل الدخول في وقت وموقع غير معتادين، ثم يحاول الوصول إلى عدد كبير من الملفات.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22960" y="2770632"/>
            <a:ext cx="10543032" cy="1234440"/>
          </a:xfrm>
          <a:prstGeom prst="rect">
            <a:avLst>
              <a:gd name="adj" fmla="val 8889"/>
            </a:avLst>
          </a:prstGeom>
          <a:solidFill>
            <a:srgbClr val="141A47"/>
          </a:solidFill>
          <a:ln/>
        </p:spPr>
      </p:sp>
      <p:pic>
        <p:nvPicPr>
          <p:cNvPr id="8" name="Image 1" descr="/home/claude/aicyber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0581" y="3161081"/>
            <a:ext cx="453542" cy="4535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862072"/>
            <a:ext cx="9262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التحليل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05840" y="3182112"/>
            <a:ext cx="9262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يلاحظ نظام الذكاء الاصطناعي أن هذا السلوك يختلف عن النمط المعتاد للمستخدم.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" y="4169664"/>
            <a:ext cx="10543032" cy="1234440"/>
          </a:xfrm>
          <a:prstGeom prst="rect">
            <a:avLst>
              <a:gd name="adj" fmla="val 8889"/>
            </a:avLst>
          </a:prstGeom>
          <a:solidFill>
            <a:srgbClr val="141A47"/>
          </a:solidFill>
          <a:ln/>
        </p:spPr>
      </p:sp>
      <p:pic>
        <p:nvPicPr>
          <p:cNvPr id="12" name="Image 2" descr="/home/claude/aicyber/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0581" y="4560113"/>
            <a:ext cx="453542" cy="4535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4261104"/>
            <a:ext cx="9262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05840" y="4581144"/>
            <a:ext cx="9262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يتم إنشاء تنبيه أمني لمراجعة النشاط والتأكد من أن الحساب لم يُخترق.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22960" y="5614416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i="1" dirty="0">
                <a:solidFill>
                  <a:srgbClr val="7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ملاحظة: الذكاء الاصطناعي لا يتخذ القرار النهائي دائمًا، بل يساعد المختص في اكتشاف المشكلة بسرعة.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فوائد استخدام الذكاء الاصطناعي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89788" y="1828800"/>
            <a:ext cx="2084832" cy="3291840"/>
          </a:xfrm>
          <a:prstGeom prst="rect">
            <a:avLst>
              <a:gd name="adj" fmla="val 5263"/>
            </a:avLst>
          </a:prstGeom>
          <a:solidFill>
            <a:srgbClr val="141A47"/>
          </a:solidFill>
          <a:ln/>
        </p:spPr>
      </p:sp>
      <p:pic>
        <p:nvPicPr>
          <p:cNvPr id="4" name="Image 0" descr="/home/claude/aicyber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260" y="2273656"/>
            <a:ext cx="481889" cy="4818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2940" y="30632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السرعة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17804" y="34747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كميات ضخمة من البيانات بسرعة.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820924" y="1828800"/>
            <a:ext cx="2084832" cy="3291840"/>
          </a:xfrm>
          <a:prstGeom prst="rect">
            <a:avLst>
              <a:gd name="adj" fmla="val 5263"/>
            </a:avLst>
          </a:prstGeom>
          <a:solidFill>
            <a:srgbClr val="141A47"/>
          </a:solidFill>
          <a:ln/>
        </p:spPr>
      </p:sp>
      <p:pic>
        <p:nvPicPr>
          <p:cNvPr id="8" name="Image 1" descr="/home/claude/aicyber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396" y="2273656"/>
            <a:ext cx="481889" cy="4818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94076" y="30632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الاكتشاف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2948940" y="34747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التعرف على أنماط يصعب ملاحظتها يدويًا.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052060" y="1828800"/>
            <a:ext cx="2084832" cy="3291840"/>
          </a:xfrm>
          <a:prstGeom prst="rect">
            <a:avLst>
              <a:gd name="adj" fmla="val 5263"/>
            </a:avLst>
          </a:prstGeom>
          <a:solidFill>
            <a:srgbClr val="141A47"/>
          </a:solidFill>
          <a:ln/>
        </p:spPr>
      </p:sp>
      <p:pic>
        <p:nvPicPr>
          <p:cNvPr id="12" name="Image 2" descr="/home/claude/aicyber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532" y="2273656"/>
            <a:ext cx="481889" cy="48188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25212" y="30632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التحليل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5180076" y="34747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معالجة مصادر متعددة من البيانات.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283196" y="1828800"/>
            <a:ext cx="2084832" cy="3291840"/>
          </a:xfrm>
          <a:prstGeom prst="rect">
            <a:avLst>
              <a:gd name="adj" fmla="val 5263"/>
            </a:avLst>
          </a:prstGeom>
          <a:solidFill>
            <a:srgbClr val="141A47"/>
          </a:solidFill>
          <a:ln/>
        </p:spPr>
      </p:sp>
      <p:pic>
        <p:nvPicPr>
          <p:cNvPr id="16" name="Image 3" descr="/home/claude/aicyber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668" y="2273656"/>
            <a:ext cx="481889" cy="48188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56348" y="30632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التنبيهات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7411212" y="34747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المساعدة في تحديد الأنشطة المشبوهة.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9514332" y="1828800"/>
            <a:ext cx="2084832" cy="3291840"/>
          </a:xfrm>
          <a:prstGeom prst="rect">
            <a:avLst>
              <a:gd name="adj" fmla="val 5263"/>
            </a:avLst>
          </a:prstGeom>
          <a:solidFill>
            <a:srgbClr val="141A47"/>
          </a:solidFill>
          <a:ln/>
        </p:spPr>
      </p:sp>
      <p:pic>
        <p:nvPicPr>
          <p:cNvPr id="20" name="Image 4" descr="/home/claude/aicyber/icons/user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5804" y="2273656"/>
            <a:ext cx="481889" cy="48188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587484" y="30632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الدعم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9642348" y="34747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مساعدة المحللين في اتخاذ قرارات أفضل.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التحديات والمخاطر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0956" y="1508760"/>
            <a:ext cx="5120640" cy="1051560"/>
          </a:xfrm>
          <a:prstGeom prst="rect">
            <a:avLst>
              <a:gd name="adj" fmla="val 8696"/>
            </a:avLst>
          </a:prstGeom>
          <a:solidFill>
            <a:srgbClr val="141A47"/>
          </a:solidFill>
          <a:ln/>
        </p:spPr>
      </p:sp>
      <p:pic>
        <p:nvPicPr>
          <p:cNvPr id="4" name="Image 0" descr="/home/claude/aicyber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598" y="1864462"/>
            <a:ext cx="340157" cy="3401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8116" y="150876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ظهور إنذارات خاطئة.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277356" y="1508760"/>
            <a:ext cx="5120640" cy="1051560"/>
          </a:xfrm>
          <a:prstGeom prst="rect">
            <a:avLst>
              <a:gd name="adj" fmla="val 8696"/>
            </a:avLst>
          </a:prstGeom>
          <a:solidFill>
            <a:srgbClr val="141A47"/>
          </a:solidFill>
          <a:ln/>
        </p:spPr>
      </p:sp>
      <p:pic>
        <p:nvPicPr>
          <p:cNvPr id="7" name="Image 1" descr="/home/claude/aicyber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998" y="1864462"/>
            <a:ext cx="340157" cy="3401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14516" y="1508760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الاعتماد الزائد على الأنظمة الآلية.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90956" y="2761488"/>
            <a:ext cx="5120640" cy="1051560"/>
          </a:xfrm>
          <a:prstGeom prst="rect">
            <a:avLst>
              <a:gd name="adj" fmla="val 8696"/>
            </a:avLst>
          </a:prstGeom>
          <a:solidFill>
            <a:srgbClr val="141A47"/>
          </a:solidFill>
          <a:ln/>
        </p:spPr>
      </p:sp>
      <p:pic>
        <p:nvPicPr>
          <p:cNvPr id="10" name="Image 2" descr="/home/claude/aicyber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598" y="3117190"/>
            <a:ext cx="340157" cy="3401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8116" y="2761488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الحاجة إلى بيانات عالية الجودة.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277356" y="2761488"/>
            <a:ext cx="5120640" cy="1051560"/>
          </a:xfrm>
          <a:prstGeom prst="rect">
            <a:avLst>
              <a:gd name="adj" fmla="val 8696"/>
            </a:avLst>
          </a:prstGeom>
          <a:solidFill>
            <a:srgbClr val="141A47"/>
          </a:solidFill>
          <a:ln/>
        </p:spPr>
      </p:sp>
      <p:pic>
        <p:nvPicPr>
          <p:cNvPr id="13" name="Image 3" descr="/home/claude/aicyber/icons/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998" y="3117190"/>
            <a:ext cx="340157" cy="34015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14516" y="2761488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إمكانية استغلال الذكاء الاصطناعي من قبل المهاجمين.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790956" y="4014216"/>
            <a:ext cx="5120640" cy="1051560"/>
          </a:xfrm>
          <a:prstGeom prst="rect">
            <a:avLst>
              <a:gd name="adj" fmla="val 8696"/>
            </a:avLst>
          </a:prstGeom>
          <a:solidFill>
            <a:srgbClr val="141A47"/>
          </a:solidFill>
          <a:ln/>
        </p:spPr>
      </p:sp>
      <p:pic>
        <p:nvPicPr>
          <p:cNvPr id="16" name="Image 4" descr="/home/claude/aicyber/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598" y="4369918"/>
            <a:ext cx="340157" cy="34015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28116" y="4014216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الحاجة إلى حماية نماذج الذكاء الاصطناعي نفسها.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277356" y="4014216"/>
            <a:ext cx="5120640" cy="1051560"/>
          </a:xfrm>
          <a:prstGeom prst="rect">
            <a:avLst>
              <a:gd name="adj" fmla="val 8696"/>
            </a:avLst>
          </a:prstGeom>
          <a:solidFill>
            <a:srgbClr val="141A47"/>
          </a:solidFill>
          <a:ln/>
        </p:spPr>
      </p:sp>
      <p:pic>
        <p:nvPicPr>
          <p:cNvPr id="19" name="Image 5" descr="/home/claude/aicyber/icons/ale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4998" y="4369918"/>
            <a:ext cx="340157" cy="34015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14516" y="4014216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ضرورة وجود متخصصين قادرين على تفسير النتائج.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الذكاء الاصطناعي يستبدل متخصص الأمن السيبراني؟</a:t>
            </a:r>
            <a:endParaRPr lang="en-US" sz="3200" dirty="0"/>
          </a:p>
        </p:txBody>
      </p:sp>
      <p:pic>
        <p:nvPicPr>
          <p:cNvPr id="3" name="Image 0" descr="/home/claude/aicyber/icons/s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8492" y="1365656"/>
            <a:ext cx="651967" cy="6519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80076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97280" y="297180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يُعد أداة تساعد المتخصصين، وليس بديلًا كاملًا عنهم. فالخبير الأمني يحتاج إلى: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2356" y="3703320"/>
            <a:ext cx="2103120" cy="777240"/>
          </a:xfrm>
          <a:prstGeom prst="rect">
            <a:avLst>
              <a:gd name="adj" fmla="val 11765"/>
            </a:avLst>
          </a:prstGeom>
          <a:solidFill>
            <a:srgbClr val="141A47"/>
          </a:solidFill>
          <a:ln/>
        </p:spPr>
      </p:sp>
      <p:sp>
        <p:nvSpPr>
          <p:cNvPr id="7" name="Text 4"/>
          <p:cNvSpPr/>
          <p:nvPr/>
        </p:nvSpPr>
        <p:spPr>
          <a:xfrm>
            <a:off x="635508" y="370332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تفسير النتائج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802636" y="3703320"/>
            <a:ext cx="2103120" cy="777240"/>
          </a:xfrm>
          <a:prstGeom prst="rect">
            <a:avLst>
              <a:gd name="adj" fmla="val 11765"/>
            </a:avLst>
          </a:prstGeom>
          <a:solidFill>
            <a:srgbClr val="141A47"/>
          </a:solidFill>
          <a:ln/>
        </p:spPr>
      </p:sp>
      <p:sp>
        <p:nvSpPr>
          <p:cNvPr id="9" name="Text 6"/>
          <p:cNvSpPr/>
          <p:nvPr/>
        </p:nvSpPr>
        <p:spPr>
          <a:xfrm>
            <a:off x="2875788" y="370332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مستوى الخطورة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42916" y="3703320"/>
            <a:ext cx="2103120" cy="777240"/>
          </a:xfrm>
          <a:prstGeom prst="rect">
            <a:avLst>
              <a:gd name="adj" fmla="val 11765"/>
            </a:avLst>
          </a:prstGeom>
          <a:solidFill>
            <a:srgbClr val="141A47"/>
          </a:solidFill>
          <a:ln/>
        </p:spPr>
      </p:sp>
      <p:sp>
        <p:nvSpPr>
          <p:cNvPr id="11" name="Text 8"/>
          <p:cNvSpPr/>
          <p:nvPr/>
        </p:nvSpPr>
        <p:spPr>
          <a:xfrm>
            <a:off x="5116068" y="370332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اتخاذ القرارات المناسبة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83196" y="3703320"/>
            <a:ext cx="2103120" cy="777240"/>
          </a:xfrm>
          <a:prstGeom prst="rect">
            <a:avLst>
              <a:gd name="adj" fmla="val 11765"/>
            </a:avLst>
          </a:prstGeom>
          <a:solidFill>
            <a:srgbClr val="141A47"/>
          </a:solidFill>
          <a:ln/>
        </p:spPr>
      </p:sp>
      <p:sp>
        <p:nvSpPr>
          <p:cNvPr id="13" name="Text 10"/>
          <p:cNvSpPr/>
          <p:nvPr/>
        </p:nvSpPr>
        <p:spPr>
          <a:xfrm>
            <a:off x="7356348" y="370332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التعامل مع الحالات المعقدة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523476" y="3703320"/>
            <a:ext cx="2103120" cy="777240"/>
          </a:xfrm>
          <a:prstGeom prst="rect">
            <a:avLst>
              <a:gd name="adj" fmla="val 11765"/>
            </a:avLst>
          </a:prstGeom>
          <a:solidFill>
            <a:srgbClr val="141A47"/>
          </a:solidFill>
          <a:ln/>
        </p:spPr>
      </p:sp>
      <p:sp>
        <p:nvSpPr>
          <p:cNvPr id="15" name="Text 12"/>
          <p:cNvSpPr/>
          <p:nvPr/>
        </p:nvSpPr>
        <p:spPr>
          <a:xfrm>
            <a:off x="9596628" y="370332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من التنبيهات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168396" y="4892040"/>
            <a:ext cx="5852160" cy="868680"/>
          </a:xfrm>
          <a:prstGeom prst="rect">
            <a:avLst>
              <a:gd name="adj" fmla="val 12632"/>
            </a:avLst>
          </a:prstGeom>
          <a:solidFill>
            <a:srgbClr val="141A47"/>
          </a:solidFill>
          <a:ln/>
        </p:spPr>
      </p:sp>
      <p:sp>
        <p:nvSpPr>
          <p:cNvPr id="17" name="Text 14"/>
          <p:cNvSpPr/>
          <p:nvPr/>
        </p:nvSpPr>
        <p:spPr>
          <a:xfrm>
            <a:off x="3259836" y="48920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Cybersecurity Expert = حماية أقوى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الجانب العملي للمشروع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Threat Detector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يقوم النظام بتحليل مجموعة من الأنشطة الإلكترونية وتصنيفها إلى: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3796" y="2331720"/>
            <a:ext cx="3383280" cy="2743200"/>
          </a:xfrm>
          <a:prstGeom prst="rect">
            <a:avLst>
              <a:gd name="adj" fmla="val 4000"/>
            </a:avLst>
          </a:prstGeom>
          <a:solidFill>
            <a:srgbClr val="141A47"/>
          </a:solidFill>
          <a:ln/>
        </p:spPr>
      </p:sp>
      <p:sp>
        <p:nvSpPr>
          <p:cNvPr id="6" name="Shape 4"/>
          <p:cNvSpPr/>
          <p:nvPr/>
        </p:nvSpPr>
        <p:spPr>
          <a:xfrm>
            <a:off x="1979676" y="2651760"/>
            <a:ext cx="731520" cy="731520"/>
          </a:xfrm>
          <a:prstGeom prst="rect">
            <a:avLst>
              <a:gd name="adj" fmla="val 17500"/>
            </a:avLst>
          </a:prstGeom>
          <a:solidFill>
            <a:srgbClr val="34A853"/>
          </a:solidFill>
          <a:ln/>
        </p:spPr>
      </p:sp>
      <p:sp>
        <p:nvSpPr>
          <p:cNvPr id="7" name="Text 5"/>
          <p:cNvSpPr/>
          <p:nvPr/>
        </p:nvSpPr>
        <p:spPr>
          <a:xfrm>
            <a:off x="745236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طبيعي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36676" y="4023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دخول معتاد / نشاط مطابق للنمط المعتاد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2836" y="2331720"/>
            <a:ext cx="3383280" cy="2743200"/>
          </a:xfrm>
          <a:prstGeom prst="rect">
            <a:avLst>
              <a:gd name="adj" fmla="val 4000"/>
            </a:avLst>
          </a:prstGeom>
          <a:solidFill>
            <a:srgbClr val="141A47"/>
          </a:solidFill>
          <a:ln/>
        </p:spPr>
      </p:sp>
      <p:sp>
        <p:nvSpPr>
          <p:cNvPr id="10" name="Shape 8"/>
          <p:cNvSpPr/>
          <p:nvPr/>
        </p:nvSpPr>
        <p:spPr>
          <a:xfrm>
            <a:off x="5728716" y="2651760"/>
            <a:ext cx="731520" cy="731520"/>
          </a:xfrm>
          <a:prstGeom prst="rect">
            <a:avLst>
              <a:gd name="adj" fmla="val 17500"/>
            </a:avLst>
          </a:prstGeom>
          <a:solidFill>
            <a:srgbClr val="F9A825"/>
          </a:solidFill>
          <a:ln/>
        </p:spPr>
      </p:sp>
      <p:sp>
        <p:nvSpPr>
          <p:cNvPr id="11" name="Text 9"/>
          <p:cNvSpPr/>
          <p:nvPr/>
        </p:nvSpPr>
        <p:spPr>
          <a:xfrm>
            <a:off x="4494276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مشبوه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85716" y="4023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محاولات دخول متكررة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1876" y="2331720"/>
            <a:ext cx="3383280" cy="2743200"/>
          </a:xfrm>
          <a:prstGeom prst="rect">
            <a:avLst>
              <a:gd name="adj" fmla="val 4000"/>
            </a:avLst>
          </a:prstGeom>
          <a:solidFill>
            <a:srgbClr val="141A47"/>
          </a:solidFill>
          <a:ln/>
        </p:spPr>
      </p:sp>
      <p:sp>
        <p:nvSpPr>
          <p:cNvPr id="14" name="Shape 12"/>
          <p:cNvSpPr/>
          <p:nvPr/>
        </p:nvSpPr>
        <p:spPr>
          <a:xfrm>
            <a:off x="9477756" y="2651760"/>
            <a:ext cx="731520" cy="731520"/>
          </a:xfrm>
          <a:prstGeom prst="rect">
            <a:avLst>
              <a:gd name="adj" fmla="val 17500"/>
            </a:avLst>
          </a:prstGeom>
          <a:solidFill>
            <a:srgbClr val="E53935"/>
          </a:solidFill>
          <a:ln/>
        </p:spPr>
      </p:sp>
      <p:sp>
        <p:nvSpPr>
          <p:cNvPr id="15" name="Text 13"/>
          <p:cNvSpPr/>
          <p:nvPr/>
        </p:nvSpPr>
        <p:spPr>
          <a:xfrm>
            <a:off x="8243316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نشاط عالي الخطورة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34756" y="4023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الوصول غير المعتاد إلى عدد كبير من الملفات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سيناريو المحاكاة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066276" y="1920240"/>
            <a:ext cx="2423160" cy="2103120"/>
          </a:xfrm>
          <a:prstGeom prst="rect">
            <a:avLst>
              <a:gd name="adj" fmla="val 5217"/>
            </a:avLst>
          </a:prstGeom>
          <a:solidFill>
            <a:srgbClr val="141A47"/>
          </a:solidFill>
          <a:ln/>
        </p:spPr>
      </p:sp>
      <p:pic>
        <p:nvPicPr>
          <p:cNvPr id="4" name="Image 0" descr="/home/claude/aicyber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2738" y="2305202"/>
            <a:ext cx="510235" cy="51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76004" y="310896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إدخال بيانات نشاط مستخدم افتراضي</a:t>
            </a:r>
            <a:endParaRPr lang="en-US" sz="1250" dirty="0"/>
          </a:p>
        </p:txBody>
      </p:sp>
      <p:pic>
        <p:nvPicPr>
          <p:cNvPr id="6" name="Image 1" descr="/home/claude/aicyber/icons/arrow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36" y="2834640"/>
            <a:ext cx="274320" cy="274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277356" y="1920240"/>
            <a:ext cx="2423160" cy="2103120"/>
          </a:xfrm>
          <a:prstGeom prst="rect">
            <a:avLst>
              <a:gd name="adj" fmla="val 5217"/>
            </a:avLst>
          </a:prstGeom>
          <a:solidFill>
            <a:srgbClr val="141A47"/>
          </a:solidFill>
          <a:ln/>
        </p:spPr>
      </p:sp>
      <p:pic>
        <p:nvPicPr>
          <p:cNvPr id="8" name="Image 2" descr="/home/claude/aicyber/icons/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818" y="2305202"/>
            <a:ext cx="510235" cy="5102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87084" y="310896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النشاط ومقارنته بالسلوك المعتاد</a:t>
            </a:r>
            <a:endParaRPr lang="en-US" sz="1250" dirty="0"/>
          </a:p>
        </p:txBody>
      </p:sp>
      <p:pic>
        <p:nvPicPr>
          <p:cNvPr id="10" name="Image 3" descr="/home/claude/aicyber/icons/arrowLe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2834640"/>
            <a:ext cx="274320" cy="27432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488436" y="1920240"/>
            <a:ext cx="2423160" cy="2103120"/>
          </a:xfrm>
          <a:prstGeom prst="rect">
            <a:avLst>
              <a:gd name="adj" fmla="val 5217"/>
            </a:avLst>
          </a:prstGeom>
          <a:solidFill>
            <a:srgbClr val="141A47"/>
          </a:solidFill>
          <a:ln/>
        </p:spPr>
      </p:sp>
      <p:pic>
        <p:nvPicPr>
          <p:cNvPr id="12" name="Image 4" descr="/home/claude/aicyber/icons/bar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898" y="2305202"/>
            <a:ext cx="510235" cy="51023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598164" y="310896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ظهور تصنيف: Normal / Suspicious / High Risk</a:t>
            </a:r>
            <a:endParaRPr lang="en-US" sz="1250" dirty="0"/>
          </a:p>
        </p:txBody>
      </p:sp>
      <p:pic>
        <p:nvPicPr>
          <p:cNvPr id="14" name="Image 5" descr="/home/claude/aicyber/icons/arrowLef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8396" y="2834640"/>
            <a:ext cx="274320" cy="27432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699516" y="1920240"/>
            <a:ext cx="2423160" cy="2103120"/>
          </a:xfrm>
          <a:prstGeom prst="rect">
            <a:avLst>
              <a:gd name="adj" fmla="val 5217"/>
            </a:avLst>
          </a:prstGeom>
          <a:solidFill>
            <a:srgbClr val="141A47"/>
          </a:solidFill>
          <a:ln/>
        </p:spPr>
      </p:sp>
      <p:pic>
        <p:nvPicPr>
          <p:cNvPr id="16" name="Image 6" descr="/home/claude/aicyber/icons/user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5978" y="2305202"/>
            <a:ext cx="510235" cy="51023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09244" y="310896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المحلل واتخاذ الإجراء المناسب</a:t>
            </a:r>
            <a:endParaRPr lang="en-US" sz="1250" dirty="0"/>
          </a:p>
        </p:txBody>
      </p:sp>
      <p:sp>
        <p:nvSpPr>
          <p:cNvPr id="18" name="Text 9"/>
          <p:cNvSpPr/>
          <p:nvPr/>
        </p:nvSpPr>
        <p:spPr>
          <a:xfrm>
            <a:off x="822960" y="44348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i="1" dirty="0">
                <a:solidFill>
                  <a:srgbClr val="7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المحاكاة تعليمية ولا تتضمن اختراقًا حقيقيًا.</a:t>
            </a:r>
            <a:endParaRPr lang="en-US" sz="1350" dirty="0"/>
          </a:p>
        </p:txBody>
      </p:sp>
      <p:sp>
        <p:nvSpPr>
          <p:cNvPr id="19" name="Text 1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مستقبل الذكاء الاصطناعي في الأمن السيبراني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0956" y="1417320"/>
            <a:ext cx="5120640" cy="960120"/>
          </a:xfrm>
          <a:prstGeom prst="rect">
            <a:avLst>
              <a:gd name="adj" fmla="val 9524"/>
            </a:avLst>
          </a:prstGeom>
          <a:solidFill>
            <a:srgbClr val="141A47"/>
          </a:solidFill>
          <a:ln/>
        </p:spPr>
      </p:sp>
      <p:pic>
        <p:nvPicPr>
          <p:cNvPr id="4" name="Image 0" descr="/home/claude/aicyber/icons/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9987" y="1732971"/>
            <a:ext cx="328818" cy="3288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8116" y="141732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تطوير أنظمة كشف التهديدات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277356" y="1417320"/>
            <a:ext cx="5120640" cy="960120"/>
          </a:xfrm>
          <a:prstGeom prst="rect">
            <a:avLst>
              <a:gd name="adj" fmla="val 9524"/>
            </a:avLst>
          </a:prstGeom>
          <a:solidFill>
            <a:srgbClr val="141A47"/>
          </a:solidFill>
          <a:ln/>
        </p:spPr>
      </p:sp>
      <p:pic>
        <p:nvPicPr>
          <p:cNvPr id="7" name="Image 1" descr="/home/claude/aicyber/icons/bar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387" y="1732971"/>
            <a:ext cx="328818" cy="3288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14516" y="141732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البيانات الأمنية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90956" y="2560320"/>
            <a:ext cx="5120640" cy="960120"/>
          </a:xfrm>
          <a:prstGeom prst="rect">
            <a:avLst>
              <a:gd name="adj" fmla="val 9524"/>
            </a:avLst>
          </a:prstGeom>
          <a:solidFill>
            <a:srgbClr val="141A47"/>
          </a:solidFill>
          <a:ln/>
        </p:spPr>
      </p:sp>
      <p:pic>
        <p:nvPicPr>
          <p:cNvPr id="10" name="Image 2" descr="/home/claude/aicyber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987" y="2875971"/>
            <a:ext cx="328818" cy="3288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8116" y="256032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سرعة الاستجابة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277356" y="2560320"/>
            <a:ext cx="5120640" cy="960120"/>
          </a:xfrm>
          <a:prstGeom prst="rect">
            <a:avLst>
              <a:gd name="adj" fmla="val 9524"/>
            </a:avLst>
          </a:prstGeom>
          <a:solidFill>
            <a:srgbClr val="141A47"/>
          </a:solidFill>
          <a:ln/>
        </p:spPr>
      </p:sp>
      <p:pic>
        <p:nvPicPr>
          <p:cNvPr id="13" name="Image 3" descr="/home/claude/aicyber/icons/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6387" y="2875971"/>
            <a:ext cx="328818" cy="3288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14516" y="256032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دعم محللي الأمن السيبراني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790956" y="3703320"/>
            <a:ext cx="5120640" cy="960120"/>
          </a:xfrm>
          <a:prstGeom prst="rect">
            <a:avLst>
              <a:gd name="adj" fmla="val 9524"/>
            </a:avLst>
          </a:prstGeom>
          <a:solidFill>
            <a:srgbClr val="141A47"/>
          </a:solidFill>
          <a:ln/>
        </p:spPr>
      </p:sp>
      <p:pic>
        <p:nvPicPr>
          <p:cNvPr id="16" name="Image 4" descr="/home/claude/aicyber/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987" y="4018971"/>
            <a:ext cx="328818" cy="3288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28116" y="370332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اكتشاف الأنماط الجديدة للهجمات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277356" y="3703320"/>
            <a:ext cx="5120640" cy="960120"/>
          </a:xfrm>
          <a:prstGeom prst="rect">
            <a:avLst>
              <a:gd name="adj" fmla="val 9524"/>
            </a:avLst>
          </a:prstGeom>
          <a:solidFill>
            <a:srgbClr val="141A47"/>
          </a:solidFill>
          <a:ln/>
        </p:spPr>
      </p:sp>
      <p:pic>
        <p:nvPicPr>
          <p:cNvPr id="19" name="Image 5" descr="/home/claude/aicyber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6387" y="4018971"/>
            <a:ext cx="328818" cy="32881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414516" y="370332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التعامل مع التهديدات المتطورة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822960" y="49377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ومع تطور المجال، ستزداد الحاجة إلى متخصصين يجمعون بين مهارات الذكاء الاصطناعي والأمن السيبراني.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الخاتمة</a:t>
            </a:r>
            <a:endParaRPr lang="en-US" sz="3200" dirty="0"/>
          </a:p>
        </p:txBody>
      </p:sp>
      <p:pic>
        <p:nvPicPr>
          <p:cNvPr id="3" name="Image 0" descr="/home/claude/aicyber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4319" y="1625803"/>
            <a:ext cx="680314" cy="6803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834640"/>
            <a:ext cx="9628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أصبح الذكاء الاصطناعي من التقنيات المهمة في تطوير الأمن السيبراني، لما يوفره من قدرة على تحليل البيانات واكتشاف الأنماط والتهديدات بسرعة.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280160" y="3749040"/>
            <a:ext cx="9628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ومع ذلك، فإن أفضل النتائج تتحقق عند الجمع بين قدرات الذكاء الاصطناعي وخبرة متخصصي الأمن السيبراني.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937760" y="4709160"/>
            <a:ext cx="2313432" cy="0"/>
          </a:xfrm>
          <a:prstGeom prst="line">
            <a:avLst/>
          </a:prstGeom>
          <a:noFill/>
          <a:ln w="12700">
            <a:solidFill>
              <a:srgbClr val="7FA3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80160" y="4892040"/>
            <a:ext cx="9628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التقنية تحلل، والخبير يقرر.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المراجع</a:t>
            </a:r>
            <a:endParaRPr lang="en-US" sz="3200" dirty="0"/>
          </a:p>
        </p:txBody>
      </p:sp>
      <p:pic>
        <p:nvPicPr>
          <p:cNvPr id="3" name="Image 0" descr="/home/claude/aicyber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2662" y="1242670"/>
            <a:ext cx="623621" cy="62362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0" y="2011680"/>
            <a:ext cx="9445752" cy="685800"/>
          </a:xfrm>
          <a:prstGeom prst="rect">
            <a:avLst>
              <a:gd name="adj" fmla="val 13333"/>
            </a:avLst>
          </a:prstGeom>
          <a:solidFill>
            <a:srgbClr val="141A47"/>
          </a:solidFill>
          <a:ln/>
        </p:spPr>
      </p:sp>
      <p:sp>
        <p:nvSpPr>
          <p:cNvPr id="5" name="Text 2"/>
          <p:cNvSpPr/>
          <p:nvPr/>
        </p:nvSpPr>
        <p:spPr>
          <a:xfrm>
            <a:off x="1554480" y="2011680"/>
            <a:ext cx="9079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Institute of Standards and Technology (NIST)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371600" y="2807208"/>
            <a:ext cx="9445752" cy="685800"/>
          </a:xfrm>
          <a:prstGeom prst="rect">
            <a:avLst>
              <a:gd name="adj" fmla="val 13333"/>
            </a:avLst>
          </a:prstGeom>
          <a:solidFill>
            <a:srgbClr val="141A47"/>
          </a:solidFill>
          <a:ln/>
        </p:spPr>
      </p:sp>
      <p:sp>
        <p:nvSpPr>
          <p:cNvPr id="7" name="Text 4"/>
          <p:cNvSpPr/>
          <p:nvPr/>
        </p:nvSpPr>
        <p:spPr>
          <a:xfrm>
            <a:off x="1554480" y="2807208"/>
            <a:ext cx="9079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and Infrastructure Security Agency (CISA)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71600" y="3602736"/>
            <a:ext cx="9445752" cy="685800"/>
          </a:xfrm>
          <a:prstGeom prst="rect">
            <a:avLst>
              <a:gd name="adj" fmla="val 13333"/>
            </a:avLst>
          </a:prstGeom>
          <a:solidFill>
            <a:srgbClr val="141A47"/>
          </a:solidFill>
          <a:ln/>
        </p:spPr>
      </p:sp>
      <p:sp>
        <p:nvSpPr>
          <p:cNvPr id="9" name="Text 6"/>
          <p:cNvSpPr/>
          <p:nvPr/>
        </p:nvSpPr>
        <p:spPr>
          <a:xfrm>
            <a:off x="1554480" y="3602736"/>
            <a:ext cx="9079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Security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371600" y="4398264"/>
            <a:ext cx="9445752" cy="685800"/>
          </a:xfrm>
          <a:prstGeom prst="rect">
            <a:avLst>
              <a:gd name="adj" fmla="val 13333"/>
            </a:avLst>
          </a:prstGeom>
          <a:solidFill>
            <a:srgbClr val="141A47"/>
          </a:solidFill>
          <a:ln/>
        </p:spPr>
      </p:sp>
      <p:sp>
        <p:nvSpPr>
          <p:cNvPr id="11" name="Text 8"/>
          <p:cNvSpPr/>
          <p:nvPr/>
        </p:nvSpPr>
        <p:spPr>
          <a:xfrm>
            <a:off x="1554480" y="4398264"/>
            <a:ext cx="9079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Security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371600" y="5193792"/>
            <a:ext cx="9445752" cy="685800"/>
          </a:xfrm>
          <a:prstGeom prst="rect">
            <a:avLst>
              <a:gd name="adj" fmla="val 13333"/>
            </a:avLst>
          </a:prstGeom>
          <a:solidFill>
            <a:srgbClr val="141A47"/>
          </a:solidFill>
          <a:ln/>
        </p:spPr>
      </p:sp>
      <p:sp>
        <p:nvSpPr>
          <p:cNvPr id="13" name="Text 10"/>
          <p:cNvSpPr/>
          <p:nvPr/>
        </p:nvSpPr>
        <p:spPr>
          <a:xfrm>
            <a:off x="1554480" y="5193792"/>
            <a:ext cx="9079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Union Agency for Cybersecurity (ENISA)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2026-09-11T21:57:58Z</dcterms:created>
  <dcterms:modified xsi:type="dcterms:W3CDTF">2026-09-11T21:57:58Z</dcterms:modified>
</cp:coreProperties>
</file>